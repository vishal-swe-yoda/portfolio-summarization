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9738360" cy="438912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Portfolio - Statistics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9829800" y="164592"/>
            <a:ext cx="292608" cy="438912"/>
          </a:xfrm>
          <a:prstGeom prst="parallelogram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25296" cy="336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6355080"/>
            <a:ext cx="32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9893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Source: Bloomberg, BSE, Internal Portfolio Analytics as of 30/Mar/2026. Quants calculated using BSE 100 TRI as benchmark.</a:t>
            </a:r>
          </a:p>
          <a:p>
            <a:r>
              <a:rPr sz="1000">
                <a:solidFill>
                  <a:srgbClr val="555555"/>
                </a:solidFill>
                <a:latin typeface="Calibri"/>
              </a:rPr>
              <a:t>Operating Cash Flow (OCF) Tiers: C1 = OCF/EBITDA &gt; 75%, C2 = 50-75%, C3 &lt; 50%. RoCE Tiers: R1 &gt; 18%, R2 = 10-18%, R3 &lt; 10%.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5669280" cy="128016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6729984"/>
            <a:ext cx="2788920" cy="1280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6729984"/>
            <a:ext cx="3733495" cy="12801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932688"/>
          <a:ext cx="3794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554480"/>
              </a:tblGrid>
              <a:tr h="50800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Quants &amp; Ratios</a:t>
                      </a:r>
                    </a:p>
                  </a:txBody>
                  <a:tcPr anchor="ctr" marL="54864" marR="54864" marT="27432" marB="27432">
                    <a:solidFill>
                      <a:srgbClr val="004C97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Month-end AUM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INR 11,203 Cr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Total Stock Count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Active Share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Top-10 Holdings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Sharpe Ratio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Standard Deviation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11.72%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Portfolio Turnover Ratio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9120" y="932688"/>
          <a:ext cx="31546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960120"/>
              </a:tblGrid>
              <a:tr h="448056">
                <a:tc gridSpan="3"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Market Capitalization</a:t>
                      </a:r>
                    </a:p>
                  </a:txBody>
                  <a:tcPr anchor="ctr" marL="54864" marR="54864" marT="27432" marB="27432">
                    <a:solidFill>
                      <a:srgbClr val="004C97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Fund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BM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Large Cap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Mid Cap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Small Cap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89120" y="3364992"/>
          <a:ext cx="315468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822960"/>
                <a:gridCol w="822960"/>
              </a:tblGrid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anchor="ctr" marL="54864" marR="54864" marT="27432" marB="27432">
                    <a:solidFill>
                      <a:srgbClr val="004C97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Fund</a:t>
                      </a:r>
                    </a:p>
                  </a:txBody>
                  <a:tcPr anchor="ctr" marL="54864" marR="54864" marT="27432" marB="27432">
                    <a:solidFill>
                      <a:srgbClr val="004C97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BM</a:t>
                      </a:r>
                    </a:p>
                  </a:txBody>
                  <a:tcPr anchor="ctr" marL="54864" marR="54864" marT="27432" marB="27432">
                    <a:solidFill>
                      <a:srgbClr val="004C97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Price to Book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3.38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2.96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Price to Earnings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23.63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21.16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349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Return on Equity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18.81%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20.11%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818120" y="932688"/>
          <a:ext cx="405079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704088"/>
                <a:gridCol w="685800"/>
                <a:gridCol w="630936"/>
                <a:gridCol w="704088"/>
                <a:gridCol w="694944"/>
              </a:tblGrid>
              <a:tr h="38100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Portfolio Composition</a:t>
                      </a:r>
                    </a:p>
                  </a:txBody>
                  <a:tcPr anchor="ctr" marL="54864" marR="54864" marT="27432" marB="27432">
                    <a:solidFill>
                      <a:srgbClr val="004C97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 gridSpan="3"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Operating Cash Flow (OCF)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Calibri"/>
                        </a:rPr>
                        <a:t>Return on Capital Employed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Fund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BM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Fund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BM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9738360" cy="438912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Portfolio - Sectoral Allocation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9829800" y="164592"/>
            <a:ext cx="292608" cy="438912"/>
          </a:xfrm>
          <a:prstGeom prst="parallelogram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25296" cy="336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6355080"/>
            <a:ext cx="32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Source: Internal Portfolio Analytics, FactSet, BSE 100 TRI as of March 30, 2026. Active Weight = Fund Weight - Benchmark Weight.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5669280" cy="128016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6729984"/>
            <a:ext cx="2788920" cy="1280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6729984"/>
            <a:ext cx="3733495" cy="12801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731520"/>
            <a:ext cx="5669280" cy="384048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 Sectoral Breakdown &amp; Active Position (%)</a:t>
            </a:r>
          </a:p>
        </p:txBody>
      </p:sp>
      <p:pic>
        <p:nvPicPr>
          <p:cNvPr id="11" name="Picture 10" descr="te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70432"/>
            <a:ext cx="5669280" cy="4919472"/>
          </a:xfrm>
          <a:prstGeom prst="rect">
            <a:avLst/>
          </a:prstGeom>
          <a:ln w="9525">
            <a:solidFill>
              <a:srgbClr val="888888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053328" y="731520"/>
            <a:ext cx="5897880" cy="384048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 Overweight (Top 3)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53328" y="1170432"/>
          <a:ext cx="5897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206240"/>
              </a:tblGrid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 (%NAV / %AW)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 Overview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Consumer Services
(6.7% / +3.6%)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Changing lifestyles</a:t>
                      </a:r>
                    </a:p>
                  </a:txBody>
                  <a:tcPr anchor="ctr" marL="73152" marR="54864" marT="36576" marB="36576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Consumer Durables
(4.5% / +3.1%)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Brand recall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IT
(10.9% / +2.3%)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Cloud and AI</a:t>
                      </a:r>
                    </a:p>
                  </a:txBody>
                  <a:tcPr anchor="ctr" marL="73152" marR="54864" marT="36576" marB="36576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53328" y="3621024"/>
            <a:ext cx="5897880" cy="384048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 Underweight (Top 3)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53328" y="4059936"/>
          <a:ext cx="58978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206240"/>
              </a:tblGrid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 (%NAV / %AW)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 Overview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Power
(0.2% / -3.2%)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Capital intensive</a:t>
                      </a:r>
                    </a:p>
                  </a:txBody>
                  <a:tcPr anchor="ctr" marL="73152" marR="54864" marT="36576" marB="36576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FMCG
(6.8% / -1.9%)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Uneven recovery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Financial Services
(32.5% / -1.7%)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NIM compression</a:t>
                      </a:r>
                    </a:p>
                  </a:txBody>
                  <a:tcPr anchor="ctr" marL="73152" marR="54864" marT="36576" marB="36576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9738360" cy="438912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Portfolio - Holdings &amp; Investment Insights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9829800" y="164592"/>
            <a:ext cx="292608" cy="438912"/>
          </a:xfrm>
          <a:prstGeom prst="parallelogram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09728"/>
            <a:ext cx="1225296" cy="336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6355080"/>
            <a:ext cx="32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Source: Internal Portfolio Analytics, BSE 100 TRI as of March 30, 2026. Top holdings represent ~49% of Fund NAV.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5669280" cy="128016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6729984"/>
            <a:ext cx="2788920" cy="128016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6729984"/>
            <a:ext cx="3733495" cy="12801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731520"/>
            <a:ext cx="5669280" cy="384048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 Top 10 Holdings &amp; Benchmark Comparison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600" y="1170432"/>
          <a:ext cx="5669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25880"/>
                <a:gridCol w="731520"/>
                <a:gridCol w="731520"/>
                <a:gridCol w="822960"/>
              </a:tblGrid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Stock Name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Fund %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BM %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Active %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1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3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5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7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8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9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10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Top 10 Total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B050"/>
                          </a:solidFill>
                          <a:latin typeface="Calibri"/>
                        </a:rPr>
                        <a:t>+10.0%</a:t>
                      </a:r>
                    </a:p>
                  </a:txBody>
                  <a:tcPr anchor="ctr" marL="54864" marR="54864" marT="27432" marB="27432">
                    <a:solidFill>
                      <a:srgbClr val="D9D9D9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53328" y="731520"/>
            <a:ext cx="5897880" cy="384048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 Key Active Stock Positions &amp; Recent Activity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53328" y="1170432"/>
          <a:ext cx="5897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508760"/>
                <a:gridCol w="868680"/>
                <a:gridCol w="1737360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Stock Name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Active %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Positioning Note</a:t>
                      </a:r>
                    </a:p>
                  </a:txBody>
                  <a:tcPr anchor="ctr" marL="54864" marR="54864" marT="27432" marB="27432">
                    <a:solidFill>
                      <a:srgbClr val="1B4F9C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1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Holding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Holding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3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Holding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Holding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Stock 5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Financial Services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B05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Holding</a:t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53328" y="3429000"/>
            <a:ext cx="5897880" cy="384048"/>
          </a:xfrm>
          <a:prstGeom prst="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 AI-Generated Portfolio Observations &amp; Key Risks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53328" y="3858768"/>
          <a:ext cx="5897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880"/>
              </a:tblGrid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High quality bias: 89% of portfolio companies reside in top Operating Cash Flow tier (C1) and 63% in top RoCE tier (R1 vs 56% for BSE 100 TRI).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Concentrated high-conviction positioning: Top 10 holdings represent ~49% of portfolio NAV with disciplined risk management.</a:t>
                      </a:r>
                    </a:p>
                  </a:txBody>
                  <a:tcPr anchor="ctr" marL="73152" marR="54864" marT="36576" marB="36576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•  Balanced cyclical and defensive exposure providing resilience across market regimes.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  <a:tr h="60579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27432" marB="27432">
                    <a:solidFill>
                      <a:srgbClr val="E7E6E6"/>
                    </a:solidFill>
                    <a:lnT w="12700" cmpd="s">
                      <a:solidFill>
                        <a:srgbClr val="D0D0D0"/>
                      </a:solidFill>
                    </a:lnT>
                    <a:lnB w="12700" cmpd="s">
                      <a:solidFill>
                        <a:srgbClr val="D0D0D0"/>
                      </a:solidFill>
                    </a:lnB>
                    <a:lnL w="12700" cmpd="s">
                      <a:solidFill>
                        <a:srgbClr val="D0D0D0"/>
                      </a:solidFill>
                    </a:lnL>
                    <a:lnR w="12700" cmpd="s">
                      <a:solidFill>
                        <a:srgbClr val="D0D0D0"/>
                      </a:solidFill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